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9" r:id="rId12"/>
    <p:sldId id="267" r:id="rId13"/>
    <p:sldId id="268" r:id="rId14"/>
    <p:sldId id="270" r:id="rId15"/>
    <p:sldId id="265" r:id="rId16"/>
  </p:sldIdLst>
  <p:sldSz cx="18288000" cy="10287000"/>
  <p:notesSz cx="6858000" cy="9144000"/>
  <p:embeddedFontLst>
    <p:embeddedFont>
      <p:font typeface="Bookman Old Style" panose="02050604050505020204" pitchFamily="18" charset="0"/>
      <p:regular r:id="rId17"/>
      <p:bold r:id="rId18"/>
      <p:italic r:id="rId19"/>
      <p:boldItalic r:id="rId20"/>
    </p:embeddedFont>
    <p:embeddedFont>
      <p:font typeface="Cambria" panose="02040503050406030204" pitchFamily="18" charset="0"/>
      <p:regular r:id="rId21"/>
      <p:bold r:id="rId22"/>
      <p:italic r:id="rId23"/>
      <p:boldItalic r:id="rId24"/>
    </p:embeddedFont>
    <p:embeddedFont>
      <p:font typeface="Gotham" panose="020B0604020202020204" charset="0"/>
      <p:regular r:id="rId25"/>
    </p:embeddedFont>
    <p:embeddedFont>
      <p:font typeface="Gotham Bold Italics" panose="020B0604020202020204" charset="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1" d="100"/>
          <a:sy n="51" d="100"/>
        </p:scale>
        <p:origin x="898" y="5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4.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PROJECT REVIEW : MILESTONE PROJECT – 1</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09-03-2026</a:t>
            </a:r>
          </a:p>
        </p:txBody>
      </p:sp>
      <p:sp>
        <p:nvSpPr>
          <p:cNvPr id="13" name="TextBox 12">
            <a:extLst>
              <a:ext uri="{FF2B5EF4-FFF2-40B4-BE49-F238E27FC236}">
                <a16:creationId xmlns:a16="http://schemas.microsoft.com/office/drawing/2014/main" id="{7FFE0DA2-4723-7C13-5FD7-FC99B0394DDD}"/>
              </a:ext>
            </a:extLst>
          </p:cNvPr>
          <p:cNvSpPr txBox="1"/>
          <p:nvPr/>
        </p:nvSpPr>
        <p:spPr>
          <a:xfrm>
            <a:off x="1725314" y="5843800"/>
            <a:ext cx="15784162" cy="584775"/>
          </a:xfrm>
          <a:prstGeom prst="rect">
            <a:avLst/>
          </a:prstGeom>
          <a:noFill/>
        </p:spPr>
        <p:txBody>
          <a:bodyPr wrap="square" rtlCol="0">
            <a:spAutoFit/>
          </a:bodyPr>
          <a:lstStyle/>
          <a:p>
            <a:pPr algn="ctr"/>
            <a:r>
              <a:rPr lang="en-US" sz="3200" dirty="0"/>
              <a:t>Dynamic Online Examination &amp; Result Processing System </a:t>
            </a:r>
            <a:endParaRPr lang="en-IN" sz="3200" b="1" dirty="0">
              <a:solidFill>
                <a:srgbClr val="0033CC"/>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A8EEF4A-EB43-B7D9-87FC-7C7D752BCA78}"/>
              </a:ext>
            </a:extLst>
          </p:cNvPr>
          <p:cNvSpPr txBox="1"/>
          <p:nvPr/>
        </p:nvSpPr>
        <p:spPr>
          <a:xfrm>
            <a:off x="893870" y="7800539"/>
            <a:ext cx="9067800"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p>
          <a:p>
            <a:pPr>
              <a:lnSpc>
                <a:spcPct val="150000"/>
              </a:lnSpc>
            </a:pPr>
            <a:r>
              <a:rPr lang="en-US" sz="3000" dirty="0" err="1">
                <a:latin typeface="Cambria" panose="02040503050406030204" pitchFamily="18" charset="0"/>
                <a:ea typeface="Cambria" panose="02040503050406030204" pitchFamily="18" charset="0"/>
              </a:rPr>
              <a:t>A.Sheshu</a:t>
            </a:r>
            <a:r>
              <a:rPr lang="en-US" sz="3000" dirty="0">
                <a:latin typeface="Cambria" panose="02040503050406030204" pitchFamily="18" charset="0"/>
                <a:ea typeface="Cambria" panose="02040503050406030204" pitchFamily="18" charset="0"/>
              </a:rPr>
              <a:t> Kumar – VTU25547– 23UECS0045.</a:t>
            </a:r>
            <a:endParaRPr lang="en-IN" sz="3000" dirty="0">
              <a:latin typeface="Cambria" panose="02040503050406030204" pitchFamily="18" charset="0"/>
              <a:ea typeface="Cambria" panose="020405030504060302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10945035" y="7818586"/>
            <a:ext cx="6914603"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US" sz="3000" dirty="0">
                <a:latin typeface="Cambria" panose="02040503050406030204" pitchFamily="18" charset="0"/>
                <a:ea typeface="Cambria" panose="02040503050406030204" pitchFamily="18" charset="0"/>
              </a:rPr>
              <a:t>Dr. </a:t>
            </a:r>
            <a:r>
              <a:rPr lang="en-US" sz="3000" dirty="0" err="1">
                <a:latin typeface="Cambria" panose="02040503050406030204" pitchFamily="18" charset="0"/>
                <a:ea typeface="Cambria" panose="02040503050406030204" pitchFamily="18" charset="0"/>
              </a:rPr>
              <a:t>M.Mageshwari</a:t>
            </a:r>
            <a:r>
              <a:rPr lang="en-US" sz="3000" dirty="0">
                <a:latin typeface="Cambria" panose="02040503050406030204" pitchFamily="18" charset="0"/>
                <a:ea typeface="Cambria" panose="02040503050406030204" pitchFamily="18" charset="0"/>
              </a:rPr>
              <a:t> – </a:t>
            </a:r>
            <a:r>
              <a:rPr lang="en-US" sz="3000">
                <a:latin typeface="Cambria" panose="02040503050406030204" pitchFamily="18" charset="0"/>
                <a:ea typeface="Cambria" panose="02040503050406030204" pitchFamily="18" charset="0"/>
              </a:rPr>
              <a:t>Assistant Professor</a:t>
            </a:r>
            <a:endParaRPr lang="en-IN" sz="30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A7AA51DE-E8D7-A1B4-BC0D-B25C8A0C467A}"/>
              </a:ext>
            </a:extLst>
          </p:cNvPr>
          <p:cNvSpPr txBox="1"/>
          <p:nvPr/>
        </p:nvSpPr>
        <p:spPr>
          <a:xfrm>
            <a:off x="2209800" y="6972300"/>
            <a:ext cx="14743170" cy="400110"/>
          </a:xfrm>
          <a:prstGeom prst="rect">
            <a:avLst/>
          </a:prstGeom>
          <a:noFill/>
        </p:spPr>
        <p:txBody>
          <a:bodyPr wrap="square" rtlCol="0">
            <a:spAutoFit/>
          </a:bodyPr>
          <a:lstStyle/>
          <a:p>
            <a:r>
              <a:rPr lang="en-US" sz="2000" b="1" dirty="0">
                <a:latin typeface="Cambria" panose="02040503050406030204" pitchFamily="18" charset="0"/>
                <a:ea typeface="Cambria" panose="02040503050406030204" pitchFamily="18" charset="0"/>
              </a:rPr>
              <a:t>SDG: SDG No – SDG Title(Example: SDG 4 – Quality Education)</a:t>
            </a:r>
            <a:endParaRPr lang="en-IN" sz="2000" b="1" dirty="0">
              <a:latin typeface="Cambria" panose="02040503050406030204" pitchFamily="18" charset="0"/>
              <a:ea typeface="Cambria"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37E9E58-77B6-079D-9D0D-E380CADAD23D}"/>
              </a:ext>
            </a:extLst>
          </p:cNvPr>
          <p:cNvSpPr txBox="1"/>
          <p:nvPr/>
        </p:nvSpPr>
        <p:spPr>
          <a:xfrm>
            <a:off x="1408754" y="1638301"/>
            <a:ext cx="15883372" cy="15173385"/>
          </a:xfrm>
          <a:prstGeom prst="rect">
            <a:avLst/>
          </a:prstGeom>
          <a:noFill/>
        </p:spPr>
        <p:txBody>
          <a:bodyPr wrap="square" rtlCol="0">
            <a:spAutoFit/>
          </a:bodyPr>
          <a:lstStyle/>
          <a:p>
            <a:pPr marL="457200" indent="-457200">
              <a:buFont typeface="Wingdings" panose="05000000000000000000" pitchFamily="2" charset="2"/>
              <a:buChar char="Ø"/>
            </a:pPr>
            <a:r>
              <a:rPr lang="en-US" sz="2800" dirty="0"/>
              <a:t>In today’s digital era, educational institutions require automated systems to conduct examinations efficiently. Traditional paper-based exams consume time, resources, and require manual result processing. This leads to delays and human errors. A Dynamic Online Examination &amp; Result Processing System provides a secure and automated platform to conduct exams online. It enables instant evaluation and result generation. The system ensures transparency, accuracy, and time efficiency. It also supports remote access and scalable exam management.</a:t>
            </a:r>
          </a:p>
          <a:p>
            <a:r>
              <a:rPr lang="en-US" sz="2800" b="1" dirty="0"/>
              <a:t>Background of the problem</a:t>
            </a:r>
          </a:p>
          <a:p>
            <a:pPr marL="457200" indent="-457200">
              <a:buFont typeface="Arial" panose="020B0604020202020204" pitchFamily="34" charset="0"/>
              <a:buChar char="•"/>
            </a:pPr>
            <a:r>
              <a:rPr lang="en-US" sz="2800" dirty="0"/>
              <a:t>Traditional exams are paper-based and manually evaluated.</a:t>
            </a:r>
          </a:p>
          <a:p>
            <a:pPr marL="457200" indent="-457200">
              <a:buFont typeface="Arial" panose="020B0604020202020204" pitchFamily="34" charset="0"/>
              <a:buChar char="•"/>
            </a:pPr>
            <a:r>
              <a:rPr lang="en-US" sz="2800" dirty="0"/>
              <a:t>Manual correction consumes time and resources.</a:t>
            </a:r>
          </a:p>
          <a:p>
            <a:r>
              <a:rPr lang="en-US" sz="2800" b="1" dirty="0"/>
              <a:t>Why this project is important</a:t>
            </a:r>
          </a:p>
          <a:p>
            <a:pPr marL="457200" indent="-457200">
              <a:buFont typeface="Arial" panose="020B0604020202020204" pitchFamily="34" charset="0"/>
              <a:buChar char="•"/>
            </a:pPr>
            <a:r>
              <a:rPr lang="en-US" sz="2800" dirty="0"/>
              <a:t>Reduces human errors in evaluation.</a:t>
            </a:r>
          </a:p>
          <a:p>
            <a:pPr marL="457200" indent="-457200">
              <a:buFont typeface="Arial" panose="020B0604020202020204" pitchFamily="34" charset="0"/>
              <a:buChar char="•"/>
            </a:pPr>
            <a:r>
              <a:rPr lang="en-US" sz="2800" dirty="0"/>
              <a:t>Generates results instantly.</a:t>
            </a:r>
          </a:p>
          <a:p>
            <a:pPr marL="457200" indent="-457200">
              <a:buFont typeface="Arial" panose="020B0604020202020204" pitchFamily="34" charset="0"/>
              <a:buChar char="•"/>
            </a:pPr>
            <a:r>
              <a:rPr lang="en-US" sz="2800" dirty="0"/>
              <a:t>Saves time, cost, and manpower.</a:t>
            </a:r>
          </a:p>
          <a:p>
            <a:r>
              <a:rPr lang="en-US" sz="2800" b="1" dirty="0"/>
              <a:t>Real-world relevance</a:t>
            </a:r>
          </a:p>
          <a:p>
            <a:pPr marL="457200" indent="-457200">
              <a:buFont typeface="Arial" panose="020B0604020202020204" pitchFamily="34" charset="0"/>
              <a:buChar char="•"/>
            </a:pPr>
            <a:r>
              <a:rPr lang="en-US" sz="2800" dirty="0"/>
              <a:t>Supports remote and online examinations.</a:t>
            </a:r>
          </a:p>
          <a:p>
            <a:pPr marL="457200" indent="-457200">
              <a:buFont typeface="Arial" panose="020B0604020202020204" pitchFamily="34" charset="0"/>
              <a:buChar char="•"/>
            </a:pPr>
            <a:r>
              <a:rPr lang="en-US" sz="2800" dirty="0"/>
              <a:t>Helps institutions manage large numbers of students efficiently</a:t>
            </a:r>
          </a:p>
          <a:p>
            <a:r>
              <a:rPr lang="en-US" sz="2800" b="1" dirty="0"/>
              <a:t>Brief overview of the system</a:t>
            </a:r>
          </a:p>
          <a:p>
            <a:pPr marL="457200" indent="-457200">
              <a:buFont typeface="Arial" panose="020B0604020202020204" pitchFamily="34" charset="0"/>
              <a:buChar char="•"/>
            </a:pPr>
            <a:r>
              <a:rPr lang="en-US" sz="2800" dirty="0"/>
              <a:t>Allows admin to create exams and manage questions.</a:t>
            </a:r>
          </a:p>
          <a:p>
            <a:pPr marL="457200" indent="-457200">
              <a:buFont typeface="Arial" panose="020B0604020202020204" pitchFamily="34" charset="0"/>
              <a:buChar char="•"/>
            </a:pPr>
            <a:r>
              <a:rPr lang="en-US" sz="2800" dirty="0"/>
              <a:t>Students can attend exams online.</a:t>
            </a:r>
          </a:p>
          <a:p>
            <a:pPr marL="457200" indent="-457200">
              <a:buFont typeface="Arial" panose="020B0604020202020204" pitchFamily="34" charset="0"/>
              <a:buChar char="•"/>
            </a:pPr>
            <a:r>
              <a:rPr lang="en-US" sz="2800" dirty="0"/>
              <a:t>System automatically evaluates and generates results.</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BDE2941C-1504-53F9-99B2-48002CA9A345}"/>
              </a:ext>
            </a:extLst>
          </p:cNvPr>
          <p:cNvSpPr txBox="1"/>
          <p:nvPr/>
        </p:nvSpPr>
        <p:spPr>
          <a:xfrm>
            <a:off x="1905000" y="1628888"/>
            <a:ext cx="15082325" cy="9848850"/>
          </a:xfrm>
          <a:prstGeom prst="rect">
            <a:avLst/>
          </a:prstGeom>
          <a:noFill/>
        </p:spPr>
        <p:txBody>
          <a:bodyPr wrap="square" rtlCol="0">
            <a:spAutoFit/>
          </a:bodyPr>
          <a:lstStyle/>
          <a:p>
            <a:pPr marL="457200" indent="-457200">
              <a:buFontTx/>
              <a:buChar char="-"/>
            </a:pPr>
            <a:endParaRPr lang="en-US" dirty="0"/>
          </a:p>
          <a:p>
            <a:pPr marL="457200" indent="-457200">
              <a:buFontTx/>
              <a:buChar char="-"/>
            </a:pPr>
            <a:r>
              <a:rPr lang="en-US" sz="2800" dirty="0"/>
              <a:t>Existing examination systems lack full-stack integration between frontend, backend, and database layers.</a:t>
            </a:r>
          </a:p>
          <a:p>
            <a:pPr marL="457200" indent="-457200">
              <a:buFontTx/>
              <a:buChar char="-"/>
            </a:pPr>
            <a:r>
              <a:rPr lang="en-US" sz="2800" dirty="0"/>
              <a:t>Manual and semi-automated systems cause delays in exam evaluation and result processing.</a:t>
            </a:r>
          </a:p>
          <a:p>
            <a:pPr marL="457200" indent="-457200">
              <a:buFontTx/>
              <a:buChar char="-"/>
            </a:pPr>
            <a:r>
              <a:rPr lang="en-US" sz="2800" dirty="0"/>
              <a:t>There is no robust Java-based backend to handle authentication, exam logic, and result computation securely.</a:t>
            </a:r>
          </a:p>
          <a:p>
            <a:pPr marL="457200" indent="-457200">
              <a:buFontTx/>
              <a:buChar char="-"/>
            </a:pPr>
            <a:r>
              <a:rPr lang="en-US" sz="2800" dirty="0"/>
              <a:t>Managing dynamic question banks and exam schedules is inefficient without a centralized system.</a:t>
            </a:r>
          </a:p>
          <a:p>
            <a:pPr marL="457200" indent="-457200">
              <a:buFontTx/>
              <a:buChar char="-"/>
            </a:pPr>
            <a:r>
              <a:rPr lang="en-US" sz="2800" dirty="0"/>
              <a:t>Scalability becomes a challenge when handling multiple users simultaneously during exams.</a:t>
            </a:r>
          </a:p>
          <a:p>
            <a:pPr marL="457200" indent="-457200">
              <a:buFontTx/>
              <a:buChar char="-"/>
            </a:pPr>
            <a:r>
              <a:rPr lang="en-US" sz="2800" dirty="0"/>
              <a:t>Traditional systems do not support real-time data processing and instant result generation.</a:t>
            </a:r>
          </a:p>
          <a:p>
            <a:pPr marL="457200" indent="-457200">
              <a:buFontTx/>
              <a:buChar char="-"/>
            </a:pPr>
            <a:r>
              <a:rPr lang="en-US" sz="2800" dirty="0"/>
              <a:t>Data inconsistency and security issues arise due to improper backend validation.</a:t>
            </a:r>
          </a:p>
          <a:p>
            <a:pPr marL="457200" indent="-457200">
              <a:buFontTx/>
              <a:buChar char="-"/>
            </a:pPr>
            <a:r>
              <a:rPr lang="en-US" sz="2800" dirty="0"/>
              <a:t>Hence, a Full Stack Java-based online examination system is required to automate exams and result processing efficiently.</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endParaRPr lang="en-US"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2" name="TextBox 51">
            <a:extLst>
              <a:ext uri="{FF2B5EF4-FFF2-40B4-BE49-F238E27FC236}">
                <a16:creationId xmlns:a16="http://schemas.microsoft.com/office/drawing/2014/main" id="{056A0A3A-1541-5EC0-5370-02DA282ABDDE}"/>
              </a:ext>
            </a:extLst>
          </p:cNvPr>
          <p:cNvSpPr txBox="1"/>
          <p:nvPr/>
        </p:nvSpPr>
        <p:spPr>
          <a:xfrm>
            <a:off x="2209800" y="1638300"/>
            <a:ext cx="15082325" cy="4832092"/>
          </a:xfrm>
          <a:prstGeom prst="rect">
            <a:avLst/>
          </a:prstGeom>
          <a:noFill/>
        </p:spPr>
        <p:txBody>
          <a:bodyPr wrap="square" rtlCol="0">
            <a:spAutoFit/>
          </a:bodyPr>
          <a:lstStyle/>
          <a:p>
            <a:pPr marL="457200" indent="-457200">
              <a:buFont typeface="Wingdings" panose="05000000000000000000" pitchFamily="2" charset="2"/>
              <a:buChar char="§"/>
            </a:pPr>
            <a:r>
              <a:rPr lang="en-US" sz="2800" dirty="0"/>
              <a:t>To design and develop a dynamic online examination system for conducting objective-based tests with automated result processing.</a:t>
            </a:r>
          </a:p>
          <a:p>
            <a:pPr marL="457200" indent="-457200">
              <a:buFont typeface="Wingdings" panose="05000000000000000000" pitchFamily="2" charset="2"/>
              <a:buChar char="§"/>
            </a:pPr>
            <a:r>
              <a:rPr lang="en-US" sz="2800" dirty="0"/>
              <a:t>To implement a secure and efficient platform that evaluates student performance instantly and generates accurate reports.</a:t>
            </a:r>
          </a:p>
          <a:p>
            <a:pPr marL="457200" indent="-457200">
              <a:buFont typeface="Wingdings" panose="05000000000000000000" pitchFamily="2" charset="2"/>
              <a:buChar char="§"/>
            </a:pPr>
            <a:r>
              <a:rPr lang="en-US" sz="2800" dirty="0"/>
              <a:t>To improve the efficiency and accuracy of online examinations through automated test management and instant result processing.</a:t>
            </a:r>
          </a:p>
          <a:p>
            <a:pPr marL="457200" indent="-457200">
              <a:buFont typeface="Wingdings" panose="05000000000000000000" pitchFamily="2" charset="2"/>
              <a:buChar char="§"/>
            </a:pPr>
            <a:r>
              <a:rPr lang="en-US" sz="2800" dirty="0"/>
              <a:t>To evaluate the performance of students by generating real-time scores, analytics, and detailed reports.</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6" name="Rectangle 5">
            <a:extLst>
              <a:ext uri="{FF2B5EF4-FFF2-40B4-BE49-F238E27FC236}">
                <a16:creationId xmlns:a16="http://schemas.microsoft.com/office/drawing/2014/main" id="{6DA5DD77-620C-1DC8-EA4E-E6875819C567}"/>
              </a:ext>
            </a:extLst>
          </p:cNvPr>
          <p:cNvSpPr>
            <a:spLocks noChangeArrowheads="1"/>
          </p:cNvSpPr>
          <p:nvPr/>
        </p:nvSpPr>
        <p:spPr bwMode="auto">
          <a:xfrm>
            <a:off x="0" y="-323166"/>
            <a:ext cx="31290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8" name="Rectangle 6">
            <a:extLst>
              <a:ext uri="{FF2B5EF4-FFF2-40B4-BE49-F238E27FC236}">
                <a16:creationId xmlns:a16="http://schemas.microsoft.com/office/drawing/2014/main" id="{A638EFD2-BEB1-DFC8-BDA3-4D58D6B7EC9B}"/>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To improve the efficiency and accuracy of online examinations through automated test management and instant result processing.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dirty="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a:extLst>
              <a:ext uri="{FF2B5EF4-FFF2-40B4-BE49-F238E27FC236}">
                <a16:creationId xmlns:a16="http://schemas.microsoft.com/office/drawing/2014/main" id="{D5D1FD99-C9A7-927E-AD67-E70F11DBAAA2}"/>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6" name="TextBox 45">
            <a:extLst>
              <a:ext uri="{FF2B5EF4-FFF2-40B4-BE49-F238E27FC236}">
                <a16:creationId xmlns:a16="http://schemas.microsoft.com/office/drawing/2014/main" id="{E7218D14-8F44-8040-8BFD-49A59591F527}"/>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E8F19716-1653-9AE0-442E-B3829A585B46}"/>
              </a:ext>
            </a:extLst>
          </p:cNvPr>
          <p:cNvSpPr txBox="1"/>
          <p:nvPr/>
        </p:nvSpPr>
        <p:spPr>
          <a:xfrm>
            <a:off x="2254166" y="1714500"/>
            <a:ext cx="15082325" cy="12280285"/>
          </a:xfrm>
          <a:prstGeom prst="rect">
            <a:avLst/>
          </a:prstGeom>
          <a:noFill/>
        </p:spPr>
        <p:txBody>
          <a:bodyPr wrap="square" rtlCol="0">
            <a:spAutoFit/>
          </a:bodyPr>
          <a:lstStyle/>
          <a:p>
            <a:pPr marL="514350" indent="-514350">
              <a:buFont typeface="+mj-lt"/>
              <a:buAutoNum type="arabicPeriod"/>
            </a:pPr>
            <a:r>
              <a:rPr lang="en-US" sz="2800" dirty="0"/>
              <a:t>Students can register and log in securely.</a:t>
            </a:r>
          </a:p>
          <a:p>
            <a:pPr marL="514350" indent="-514350">
              <a:buFont typeface="+mj-lt"/>
              <a:buAutoNum type="arabicPeriod"/>
            </a:pPr>
            <a:r>
              <a:rPr lang="en-US" sz="2800" dirty="0"/>
              <a:t>Admin can create and manage exams dynamically.</a:t>
            </a:r>
          </a:p>
          <a:p>
            <a:pPr marL="514350" indent="-514350">
              <a:buFont typeface="+mj-lt"/>
              <a:buAutoNum type="arabicPeriod"/>
            </a:pPr>
            <a:r>
              <a:rPr lang="en-US" sz="2800" dirty="0"/>
              <a:t>Questions can be added, edited, and deleted easily.</a:t>
            </a:r>
          </a:p>
          <a:p>
            <a:pPr marL="514350" indent="-514350">
              <a:buFont typeface="+mj-lt"/>
              <a:buAutoNum type="arabicPeriod"/>
            </a:pPr>
            <a:r>
              <a:rPr lang="en-US" sz="2800" dirty="0"/>
              <a:t>Timer-based online examination system.</a:t>
            </a:r>
          </a:p>
          <a:p>
            <a:pPr marL="514350" indent="-514350">
              <a:buFont typeface="+mj-lt"/>
              <a:buAutoNum type="arabicPeriod"/>
            </a:pPr>
            <a:r>
              <a:rPr lang="en-US" sz="2800" dirty="0"/>
              <a:t>Automatic answer evaluation.</a:t>
            </a:r>
          </a:p>
          <a:p>
            <a:pPr marL="514350" indent="-514350">
              <a:buFont typeface="+mj-lt"/>
              <a:buAutoNum type="arabicPeriod"/>
            </a:pPr>
            <a:r>
              <a:rPr lang="en-US" sz="2800" dirty="0"/>
              <a:t>Instant result generation after submission.</a:t>
            </a:r>
          </a:p>
          <a:p>
            <a:pPr marL="514350" indent="-514350">
              <a:buFont typeface="+mj-lt"/>
              <a:buAutoNum type="arabicPeriod"/>
            </a:pPr>
            <a:r>
              <a:rPr lang="en-US" sz="2800" dirty="0"/>
              <a:t>Performance analysis and report generation.</a:t>
            </a:r>
          </a:p>
          <a:p>
            <a:pPr marL="514350" indent="-514350">
              <a:buFont typeface="+mj-lt"/>
              <a:buAutoNum type="arabicPeriod"/>
            </a:pPr>
            <a:r>
              <a:rPr lang="en-US" sz="2800" dirty="0"/>
              <a:t>Secure database management to store exam records.</a:t>
            </a:r>
          </a:p>
          <a:p>
            <a:endParaRPr lang="en-US" sz="2800" dirty="0"/>
          </a:p>
          <a:p>
            <a:r>
              <a:rPr lang="en-US" sz="3600" b="1" dirty="0"/>
              <a:t>Advantages over existing system:</a:t>
            </a:r>
            <a:endParaRPr lang="en-US" sz="3600" dirty="0"/>
          </a:p>
          <a:p>
            <a:pPr marL="457200" indent="-457200">
              <a:buFont typeface="Wingdings" panose="05000000000000000000" pitchFamily="2" charset="2"/>
              <a:buChar char="§"/>
            </a:pPr>
            <a:r>
              <a:rPr lang="en-US" sz="2800" dirty="0"/>
              <a:t>Reduces manual effort</a:t>
            </a:r>
          </a:p>
          <a:p>
            <a:pPr marL="457200" indent="-457200">
              <a:buFont typeface="Wingdings" panose="05000000000000000000" pitchFamily="2" charset="2"/>
              <a:buChar char="§"/>
            </a:pPr>
            <a:r>
              <a:rPr lang="en-US" sz="2800" dirty="0"/>
              <a:t>Saves time and cost</a:t>
            </a:r>
          </a:p>
          <a:p>
            <a:pPr marL="457200" indent="-457200">
              <a:buFont typeface="Wingdings" panose="05000000000000000000" pitchFamily="2" charset="2"/>
              <a:buChar char="§"/>
            </a:pPr>
            <a:r>
              <a:rPr lang="en-US" sz="2800" dirty="0"/>
              <a:t>Improves accuracy</a:t>
            </a:r>
          </a:p>
          <a:p>
            <a:pPr marL="457200" indent="-457200">
              <a:buFont typeface="Wingdings" panose="05000000000000000000" pitchFamily="2" charset="2"/>
              <a:buChar char="§"/>
            </a:pPr>
            <a:r>
              <a:rPr lang="en-US" sz="2800" dirty="0"/>
              <a:t>Instant result processing</a:t>
            </a:r>
          </a:p>
          <a:p>
            <a:pPr marL="457200" indent="-457200">
              <a:buFont typeface="Wingdings" panose="05000000000000000000" pitchFamily="2" charset="2"/>
              <a:buChar char="§"/>
            </a:pPr>
            <a:r>
              <a:rPr lang="en-US" sz="2800" dirty="0"/>
              <a:t>Easy accessibility</a:t>
            </a:r>
          </a:p>
          <a:p>
            <a:pPr marL="914400" lvl="1" indent="-457200">
              <a:buFont typeface="Arial" panose="020B0604020202020204" pitchFamily="34" charset="0"/>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1" name="Freeform 10">
            <a:extLst>
              <a:ext uri="{FF2B5EF4-FFF2-40B4-BE49-F238E27FC236}">
                <a16:creationId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2" name="TextBox 41">
            <a:extLst>
              <a:ext uri="{FF2B5EF4-FFF2-40B4-BE49-F238E27FC236}">
                <a16:creationId xmlns:a16="http://schemas.microsoft.com/office/drawing/2014/main" id="{A4B3B85F-0C7B-16B9-6D50-94A4DFD2D19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a:extLst>
              <a:ext uri="{FF2B5EF4-FFF2-40B4-BE49-F238E27FC236}">
                <a16:creationId xmlns:a16="http://schemas.microsoft.com/office/drawing/2014/main" id="{25F9D4B0-38FE-DBA4-164D-1745B68379A5}"/>
              </a:ext>
            </a:extLst>
          </p:cNvPr>
          <p:cNvSpPr txBox="1"/>
          <p:nvPr/>
        </p:nvSpPr>
        <p:spPr>
          <a:xfrm>
            <a:off x="2209800" y="1638300"/>
            <a:ext cx="15082325" cy="10002738"/>
          </a:xfrm>
          <a:prstGeom prst="rect">
            <a:avLst/>
          </a:prstGeom>
          <a:noFill/>
        </p:spPr>
        <p:txBody>
          <a:bodyPr wrap="square" rtlCol="0">
            <a:spAutoFit/>
          </a:bodyPr>
          <a:lstStyle/>
          <a:p>
            <a:endParaRPr lang="en-US" sz="2800" dirty="0"/>
          </a:p>
          <a:p>
            <a:pPr marL="1371600" lvl="2" indent="-457200">
              <a:buFont typeface="Wingdings" panose="05000000000000000000" pitchFamily="2" charset="2"/>
              <a:buChar char="Ø"/>
            </a:pPr>
            <a:r>
              <a:rPr lang="en-US" sz="2800" dirty="0"/>
              <a:t>Input</a:t>
            </a:r>
          </a:p>
          <a:p>
            <a:pPr lvl="2"/>
            <a:r>
              <a:rPr lang="en-US" sz="2800" dirty="0"/>
              <a:t>      Student details, login credentials, exam selection, and answers are provided to the system.</a:t>
            </a:r>
          </a:p>
          <a:p>
            <a:pPr marL="1371600" lvl="2" indent="-457200">
              <a:buFont typeface="Wingdings" panose="05000000000000000000" pitchFamily="2" charset="2"/>
              <a:buChar char="Ø"/>
            </a:pPr>
            <a:r>
              <a:rPr lang="en-US" sz="2800" dirty="0"/>
              <a:t>Processing</a:t>
            </a:r>
          </a:p>
          <a:p>
            <a:pPr lvl="2"/>
            <a:r>
              <a:rPr lang="en-US" sz="2800" dirty="0"/>
              <a:t>      The system authenticates users, displays questions, evaluates answers, and calculates the score automatically.</a:t>
            </a:r>
          </a:p>
          <a:p>
            <a:pPr marL="1371600" lvl="2" indent="-457200">
              <a:buFont typeface="Wingdings" panose="05000000000000000000" pitchFamily="2" charset="2"/>
              <a:buChar char="Ø"/>
            </a:pPr>
            <a:r>
              <a:rPr lang="en-US" sz="2800" dirty="0"/>
              <a:t>Database</a:t>
            </a:r>
          </a:p>
          <a:p>
            <a:pPr lvl="2"/>
            <a:r>
              <a:rPr lang="en-US" sz="2800" dirty="0"/>
              <a:t>      Stores student information, question bank, exam records, and results securely.</a:t>
            </a:r>
          </a:p>
          <a:p>
            <a:pPr marL="1371600" lvl="2" indent="-457200">
              <a:buFont typeface="Wingdings" panose="05000000000000000000" pitchFamily="2" charset="2"/>
              <a:buChar char="Ø"/>
            </a:pPr>
            <a:r>
              <a:rPr lang="en-US" sz="2800" dirty="0"/>
              <a:t>Output</a:t>
            </a:r>
          </a:p>
          <a:p>
            <a:pPr lvl="2"/>
            <a:r>
              <a:rPr lang="en-US" sz="2800" dirty="0"/>
              <a:t>      Displays exam questions, instant results, score, and performance reports to students and admin.</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7" name="TextBox 46">
            <a:extLst>
              <a:ext uri="{FF2B5EF4-FFF2-40B4-BE49-F238E27FC236}">
                <a16:creationId xmlns:a16="http://schemas.microsoft.com/office/drawing/2014/main"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id="{D04F3B99-A5D2-54DC-51CD-4E86A99D3EA2}"/>
              </a:ext>
            </a:extLst>
          </p:cNvPr>
          <p:cNvSpPr txBox="1"/>
          <p:nvPr/>
        </p:nvSpPr>
        <p:spPr>
          <a:xfrm>
            <a:off x="2209800" y="1638300"/>
            <a:ext cx="15082325" cy="4832092"/>
          </a:xfrm>
          <a:prstGeom prst="rect">
            <a:avLst/>
          </a:prstGeom>
          <a:noFill/>
        </p:spPr>
        <p:txBody>
          <a:bodyPr wrap="square" rtlCol="0">
            <a:spAutoFit/>
          </a:bodyPr>
          <a:lstStyle/>
          <a:p>
            <a:endParaRPr lang="en-US" sz="2800" dirty="0"/>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5" name="Picture 4">
            <a:extLst>
              <a:ext uri="{FF2B5EF4-FFF2-40B4-BE49-F238E27FC236}">
                <a16:creationId xmlns:a16="http://schemas.microsoft.com/office/drawing/2014/main" id="{3B0017CC-9A5C-8A9E-F0A7-1F497AF572F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28800" y="1741462"/>
            <a:ext cx="14630400" cy="827883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7" name="TextBox 46">
            <a:extLst>
              <a:ext uri="{FF2B5EF4-FFF2-40B4-BE49-F238E27FC236}">
                <a16:creationId xmlns:a16="http://schemas.microsoft.com/office/drawing/2014/main" id="{E4ED097B-FECF-66E6-2A98-0F8B4D948FC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6E9F5F9-CCF8-6F05-4C01-034C88D7529E}"/>
              </a:ext>
            </a:extLst>
          </p:cNvPr>
          <p:cNvSpPr txBox="1"/>
          <p:nvPr/>
        </p:nvSpPr>
        <p:spPr>
          <a:xfrm>
            <a:off x="2227934" y="2245318"/>
            <a:ext cx="15082325" cy="10002738"/>
          </a:xfrm>
          <a:prstGeom prst="rect">
            <a:avLst/>
          </a:prstGeom>
          <a:noFill/>
        </p:spPr>
        <p:txBody>
          <a:bodyPr wrap="square" rtlCol="0">
            <a:spAutoFit/>
          </a:bodyPr>
          <a:lstStyle/>
          <a:p>
            <a:r>
              <a:rPr lang="en-US" sz="2800" dirty="0"/>
              <a:t>Frontend: HTML, CSS, JavaScript</a:t>
            </a:r>
            <a:br>
              <a:rPr lang="en-US" sz="2800" dirty="0"/>
            </a:br>
            <a:r>
              <a:rPr lang="en-US" sz="2800" dirty="0"/>
              <a:t>Backend: Java (Servlets/JSP) or Spring Boot</a:t>
            </a:r>
            <a:br>
              <a:rPr lang="en-US" sz="2800" dirty="0"/>
            </a:br>
            <a:r>
              <a:rPr lang="en-US" sz="2800" dirty="0"/>
              <a:t>Database: MySQL</a:t>
            </a:r>
            <a:br>
              <a:rPr lang="en-US" sz="2800" dirty="0"/>
            </a:br>
            <a:r>
              <a:rPr lang="en-US" sz="2800" dirty="0"/>
              <a:t>Tools: Eclipse / VS Code / MySQL Workbench</a:t>
            </a:r>
            <a:br>
              <a:rPr lang="en-US" sz="2800" dirty="0"/>
            </a:br>
            <a:r>
              <a:rPr lang="en-US" sz="2800" dirty="0"/>
              <a:t>Hardware Requirements:</a:t>
            </a:r>
          </a:p>
          <a:p>
            <a:r>
              <a:rPr lang="en-US" sz="2800" dirty="0"/>
              <a:t>4GB RAM minimum</a:t>
            </a:r>
          </a:p>
          <a:p>
            <a:r>
              <a:rPr lang="en-US" sz="2800" dirty="0"/>
              <a:t>Internet connection</a:t>
            </a:r>
            <a:br>
              <a:rPr lang="en-US" sz="2800" dirty="0"/>
            </a:br>
            <a:r>
              <a:rPr lang="en-US" sz="2800" dirty="0"/>
              <a:t>Software Requirements:</a:t>
            </a:r>
          </a:p>
          <a:p>
            <a:r>
              <a:rPr lang="en-US" sz="2800" dirty="0"/>
              <a:t>Windows/Linux OS</a:t>
            </a:r>
          </a:p>
          <a:p>
            <a:r>
              <a:rPr lang="en-US" sz="2800" dirty="0"/>
              <a:t>JDK 8+</a:t>
            </a:r>
          </a:p>
          <a:p>
            <a:r>
              <a:rPr lang="en-US" sz="2800" dirty="0"/>
              <a:t>Apache Tomcat Server</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A1BCE7C-890E-A01E-691E-1D3D07CF6333}"/>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304C197-EAC7-7A26-FAED-ED7302DBEC6E}"/>
              </a:ext>
            </a:extLst>
          </p:cNvPr>
          <p:cNvSpPr txBox="1"/>
          <p:nvPr/>
        </p:nvSpPr>
        <p:spPr>
          <a:xfrm>
            <a:off x="2209800" y="1638300"/>
            <a:ext cx="15082325" cy="9140964"/>
          </a:xfrm>
          <a:prstGeom prst="rect">
            <a:avLst/>
          </a:prstGeom>
          <a:noFill/>
        </p:spPr>
        <p:txBody>
          <a:bodyPr wrap="square" rtlCol="0">
            <a:spAutoFit/>
          </a:bodyPr>
          <a:lstStyle/>
          <a:p>
            <a:endParaRPr lang="en-IN" sz="2800" b="1" dirty="0"/>
          </a:p>
          <a:p>
            <a:endParaRPr lang="en-IN" sz="2800" b="1" dirty="0"/>
          </a:p>
          <a:p>
            <a:r>
              <a:rPr lang="en-US" sz="2800" b="1" dirty="0"/>
              <a:t>Module 1: User Management</a:t>
            </a:r>
          </a:p>
          <a:p>
            <a:r>
              <a:rPr lang="en-US" sz="2800" dirty="0"/>
              <a:t>Handles registration, login, role-based authentication (Admin/Student).</a:t>
            </a:r>
          </a:p>
          <a:p>
            <a:r>
              <a:rPr lang="en-US" sz="2800" b="1" dirty="0"/>
              <a:t>Module 2: Exam Management</a:t>
            </a:r>
          </a:p>
          <a:p>
            <a:r>
              <a:rPr lang="en-US" sz="2800" dirty="0"/>
              <a:t>Admin creates exams, uploads question bank, sets duration and marks.</a:t>
            </a:r>
          </a:p>
          <a:p>
            <a:r>
              <a:rPr lang="en-US" sz="2800" b="1" dirty="0"/>
              <a:t>Module 3: Examination Module</a:t>
            </a:r>
          </a:p>
          <a:p>
            <a:r>
              <a:rPr lang="en-US" sz="2800" dirty="0"/>
              <a:t>Displays questions dynamically, timer management, answer submission.</a:t>
            </a:r>
          </a:p>
          <a:p>
            <a:r>
              <a:rPr lang="en-US" sz="2800" b="1" dirty="0"/>
              <a:t>Module 4: Result Processing Module</a:t>
            </a:r>
          </a:p>
          <a:p>
            <a:r>
              <a:rPr lang="en-US" sz="2800" dirty="0"/>
              <a:t>Automatically evaluates answers and generates scorecard instantly.</a:t>
            </a:r>
          </a:p>
          <a:p>
            <a:r>
              <a:rPr lang="en-US" sz="2800" b="1" dirty="0"/>
              <a:t>Module 5: Database Management</a:t>
            </a:r>
          </a:p>
          <a:p>
            <a:r>
              <a:rPr lang="en-US" sz="2800" dirty="0"/>
              <a:t>Stores user data, exam details, and results securely.</a:t>
            </a:r>
          </a:p>
          <a:p>
            <a:r>
              <a:rPr lang="en-US" sz="2800" b="1" dirty="0"/>
              <a:t>Module 6: Reporting &amp; Analytics</a:t>
            </a:r>
          </a:p>
          <a:p>
            <a:r>
              <a:rPr lang="en-US" sz="2800" dirty="0"/>
              <a:t>Generates student performance reports and overall analytics.</a:t>
            </a:r>
          </a:p>
          <a:p>
            <a:endParaRPr lang="en-IN" sz="2800" dirty="0"/>
          </a:p>
          <a:p>
            <a:endParaRPr lang="en-IN" sz="2800" dirty="0"/>
          </a:p>
          <a:p>
            <a:endParaRPr lang="en-IN" sz="2800" dirty="0"/>
          </a:p>
          <a:p>
            <a:endParaRPr lang="en-IN" sz="2800" dirty="0"/>
          </a:p>
          <a:p>
            <a:endParaRPr lang="en-IN" sz="2800" dirty="0"/>
          </a:p>
          <a:p>
            <a:endParaRPr lang="en-IN" sz="2800" dirty="0"/>
          </a:p>
          <a:p>
            <a:endParaRPr lang="en-IN"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B814A5FC-F17C-8D1A-04C8-1ED6A2AE0E6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2EC11913-1FC3-79C0-FB94-72486D9673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6CB89B22-25E1-321C-5A74-15CF8EBC7CA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B75CC848-4A56-77F8-99F1-CC69C3EDF73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69640" y="1394656"/>
            <a:ext cx="12348719" cy="5176331"/>
          </a:xfrm>
          <a:prstGeom prst="rect">
            <a:avLst/>
          </a:prstGeom>
        </p:spPr>
      </p:pic>
    </p:spTree>
    <p:extLst>
      <p:ext uri="{BB962C8B-B14F-4D97-AF65-F5344CB8AC3E}">
        <p14:creationId xmlns:p14="http://schemas.microsoft.com/office/powerpoint/2010/main" val="1998101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B7CF319D-58F2-DF9E-632A-90472F50FA3A}"/>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ADE101F0-A2BF-16E8-7BEC-541911EA9510}"/>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C43B1E5B-104E-DCD5-F042-8DABFE8225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846A8601-B4CB-7C78-2833-947EEC356CD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a:t>
              </a:r>
            </a:p>
          </p:txBody>
        </p:sp>
      </p:grpSp>
      <p:grpSp>
        <p:nvGrpSpPr>
          <p:cNvPr id="10" name="Group 10">
            <a:extLst>
              <a:ext uri="{FF2B5EF4-FFF2-40B4-BE49-F238E27FC236}">
                <a16:creationId xmlns:a16="http://schemas.microsoft.com/office/drawing/2014/main" id="{1C63788E-DB35-987D-1A89-4C3F169DF70E}"/>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676646B6-C6D6-F677-3CA9-56BE5CE444A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3CDDAA79-D530-F622-0CC8-ECE3E95F952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8227745F-FD1B-7135-E88E-D6B924C5CB24}"/>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79292FA3-A80E-1540-0024-754AADCDB01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5A8C7117-591A-F089-5F54-0229077FDEA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29278237-7990-A997-2285-EB2F5BB4EF44}"/>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F37C1434-DB0E-53EF-4140-56A0F3CD6EA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4FC388C1-59EC-CA17-BA41-9AF3AAD42D8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90F65A21-E49B-9858-6EAD-EBC3142E623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EFDE14F0-9F59-E35F-B5B7-45C77C56354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E1181869-B448-2B7A-67F5-160B09C76D9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8B27AB66-420C-E7D0-5891-910B564CA2C2}"/>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F0605CE2-624E-D2DA-6357-65C5FA138C6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DA9B1286-A8A4-091B-5AF9-F0B275F703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127DF020-AEA7-8D57-9411-90D58D65D05B}"/>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00BA2729-D580-CF8D-87CD-EE786F2E40E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F0B6F8BA-7047-AE2A-DB03-E6846F9FAEA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B5DE7324-71F9-1D79-AB1E-F97481653389}"/>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E780ED4E-44DF-E344-CCEA-834D1374F6A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AC7D9CD8-E54E-AD67-D59B-5D4A37A1B41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3560347-DE50-10F7-9905-7228E593D28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1B9E463A-B010-8D72-6350-7242CB0AAF5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C15BE220-858E-1446-5B56-D3329A06A99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8F156A3-70B1-1344-389E-4B3C64CA921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A36A5C58-00A3-2FE9-36E4-D92AAF44A0F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BADF0EED-F663-F70E-9BB3-C0F576114D0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54542349-F329-7DA6-DBD4-7EFA939B9892}"/>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B6CAD810-8433-9B89-E144-29986E25063F}"/>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746F2C30-13B1-3754-C147-D58A899BC459}"/>
              </a:ext>
            </a:extLst>
          </p:cNvPr>
          <p:cNvSpPr txBox="1"/>
          <p:nvPr/>
        </p:nvSpPr>
        <p:spPr>
          <a:xfrm>
            <a:off x="2088345" y="1695376"/>
            <a:ext cx="13608855" cy="4401205"/>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 name="Picture 3">
            <a:extLst>
              <a:ext uri="{FF2B5EF4-FFF2-40B4-BE49-F238E27FC236}">
                <a16:creationId xmlns:a16="http://schemas.microsoft.com/office/drawing/2014/main" id="{7C5FF56C-F612-E6E1-AA3E-EF1275E4DB8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10200" y="1501763"/>
            <a:ext cx="6187976" cy="6751905"/>
          </a:xfrm>
          <a:prstGeom prst="rect">
            <a:avLst/>
          </a:prstGeom>
        </p:spPr>
      </p:pic>
    </p:spTree>
    <p:extLst>
      <p:ext uri="{BB962C8B-B14F-4D97-AF65-F5344CB8AC3E}">
        <p14:creationId xmlns:p14="http://schemas.microsoft.com/office/powerpoint/2010/main" val="39811873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C0F4F051-5473-4E78-FEB2-59A87A5FBB9B}"/>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66BE183E-F015-FFD4-5C84-C25B4DCE490A}"/>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3AEC1772-D597-ACC7-7EF1-FF0460F37AA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46839344-8B05-5C56-F0B1-64E24F458991}"/>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8(B)</a:t>
              </a:r>
            </a:p>
          </p:txBody>
        </p:sp>
      </p:grpSp>
      <p:grpSp>
        <p:nvGrpSpPr>
          <p:cNvPr id="10" name="Group 10">
            <a:extLst>
              <a:ext uri="{FF2B5EF4-FFF2-40B4-BE49-F238E27FC236}">
                <a16:creationId xmlns:a16="http://schemas.microsoft.com/office/drawing/2014/main" id="{23B54700-9ABF-8EDD-8B21-24A9248C534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B99246F8-F6B5-2F2E-2FB4-FAE1DD41DCC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B7CDDD7B-8A9B-223F-951A-473D0C9404F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B3E1A8FC-D0F1-BD05-9C14-C10EAE95E57E}"/>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CEB5FB4E-3BF3-BC6A-6692-FE375141E45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38F8F103-F0A5-8F95-A139-8DBEBEF19C2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8C558648-2D59-16EB-3098-EAF5DE978B1F}"/>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B168779D-5467-4E78-AD1E-36B5A75A347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8AFC0BB4-20A4-849D-A1E4-FA90A8DDCC7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700D33AC-D53D-0E96-8752-E5DA06AE57A5}"/>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14DABAFB-38B3-CE49-B21D-A496D7EC2A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BE27A610-3BC0-BFBC-2A61-4C157B024EF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6C0E28B4-531C-D2E1-F3C9-B5A98A28B69D}"/>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C193347-3923-7F1F-A580-A7462B158EC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C5DDC20D-7BD0-E255-26F1-86A88AF67CF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9DBB21A1-CAFF-686E-D181-980219283F79}"/>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5531A9C5-B561-53EA-BF9A-3BE6A607C1B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D8870C21-3327-4D63-FD34-36BC479967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4D7C3EBE-FA20-7E4C-13DD-84F1A98618F6}"/>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C1E3AE62-1B2B-FE1E-010C-A26C4F613A6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CDA04BD5-C99C-980C-6593-EDEA378D6C3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77207A6-9552-432B-0793-EB6A88EE3C1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7447A1E-BA0C-26C0-C743-E590A55A653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8D425BCC-6A0F-30CB-18E7-D1E21E871D9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35F87FC1-4854-F9D4-8104-40945AD6A772}"/>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C7CF20EF-980A-2D88-E968-DCB5B8BC6CF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A7A686B7-4E4C-A5FA-60CD-A6EFF9DEAD8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3ECD8D52-6368-578C-BEB2-0B1BA37FD45D}"/>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638323CF-7DCB-075F-B739-0F88472F060D}"/>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6C0EA81E-D408-1A06-6895-1BF3CA09E497}"/>
              </a:ext>
            </a:extLst>
          </p:cNvPr>
          <p:cNvSpPr txBox="1"/>
          <p:nvPr/>
        </p:nvSpPr>
        <p:spPr>
          <a:xfrm>
            <a:off x="2209800" y="1638300"/>
            <a:ext cx="15082325" cy="4832092"/>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5" name="Picture 4">
            <a:extLst>
              <a:ext uri="{FF2B5EF4-FFF2-40B4-BE49-F238E27FC236}">
                <a16:creationId xmlns:a16="http://schemas.microsoft.com/office/drawing/2014/main" id="{F680D79E-166A-0F09-A3F8-1D13C48EBDF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10200" y="1546952"/>
            <a:ext cx="5959356" cy="6751905"/>
          </a:xfrm>
          <a:prstGeom prst="rect">
            <a:avLst/>
          </a:prstGeom>
        </p:spPr>
      </p:pic>
    </p:spTree>
    <p:extLst>
      <p:ext uri="{BB962C8B-B14F-4D97-AF65-F5344CB8AC3E}">
        <p14:creationId xmlns:p14="http://schemas.microsoft.com/office/powerpoint/2010/main" val="47544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0152AA6E-1A8C-A42D-344E-C811AB58A618}"/>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EB7F1E1F-336A-607D-2868-6C57FF54EB44}"/>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63528BA9-EE0E-A6F8-4A8C-6DFC964B206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6E25C449-B344-E643-12F7-C89DEE4255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4C22D2BC-F5CA-423B-6FD6-94172693045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F6670B32-1168-757A-3D40-FDD55687DCF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0D3BB7FD-57C6-C09A-D875-135D505A8E1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067A86AC-A2D1-3F33-5857-9F69983F71BB}"/>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D9EADC3C-D136-0700-9300-4D8E867EC53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8EAD5F3-3FC4-819A-6ECD-0BC55C92A2B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1671F77B-B3A5-F8B6-AC67-6EF88CA95877}"/>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1303025A-EF3E-710E-2DBD-D89F29B8499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76E7D281-CC96-92C2-C2F7-583674F0609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E0D02FED-C5F4-9CC7-F1F5-E75E542840A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384D1E33-434F-2FA0-56CC-F24058D8639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F2FC0DCA-FB2A-610C-A8DB-76CE251A57D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4CA1DB61-05A2-042F-9815-00DBC40D0556}"/>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7E4E958-360B-28EF-052B-EDDBDD5F40F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BEDBF5CC-2720-E821-001C-11BCB7273E2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6B96629A-6996-B0D7-13D6-0FA011422666}"/>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912F1ED8-E3AD-E90A-10CE-D50A8F7D91A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0E45F23-6E8F-F601-2EB3-537A898E704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A40D6715-3580-0B1B-2305-C7ED6083AE85}"/>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11A59530-4B7F-6C6B-290E-578EA30200D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9BDCE736-251A-5B70-853E-A0A9A174F36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8249BDCF-E07B-269B-D039-A4360C0FE2B4}"/>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6F6B04FD-3FAC-90A2-4C1A-D809D058C0A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BEE5C092-697C-26F6-D6E0-477F151E7CA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FF80FEAE-01A3-1956-FB30-BED14CA86273}"/>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2E8D2AB5-8B00-D9B4-469D-07CAE4ECF9C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F9F17E25-114F-438B-701A-7788D333F33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1C4B6667-B2EE-BA32-402F-04368D88D5C4}"/>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B953180-DB27-F046-86E3-E3508247B406}"/>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341A1FDE-E3AB-682A-64B7-DA145F23EB91}"/>
              </a:ext>
            </a:extLst>
          </p:cNvPr>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6DE6AC74-D7A5-FB74-3829-00FD7DC742F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19400" y="1795557"/>
            <a:ext cx="6111770" cy="3917019"/>
          </a:xfrm>
          <a:prstGeom prst="rect">
            <a:avLst/>
          </a:prstGeom>
        </p:spPr>
      </p:pic>
      <p:pic>
        <p:nvPicPr>
          <p:cNvPr id="5" name="Picture 4">
            <a:extLst>
              <a:ext uri="{FF2B5EF4-FFF2-40B4-BE49-F238E27FC236}">
                <a16:creationId xmlns:a16="http://schemas.microsoft.com/office/drawing/2014/main" id="{D20112CC-859B-C4F1-A384-9EC1E790781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40081" y="2105346"/>
            <a:ext cx="7386583" cy="3406435"/>
          </a:xfrm>
          <a:prstGeom prst="rect">
            <a:avLst/>
          </a:prstGeom>
        </p:spPr>
      </p:pic>
    </p:spTree>
    <p:extLst>
      <p:ext uri="{BB962C8B-B14F-4D97-AF65-F5344CB8AC3E}">
        <p14:creationId xmlns:p14="http://schemas.microsoft.com/office/powerpoint/2010/main" val="848899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4" name="Group 44">
            <a:extLst>
              <a:ext uri="{FF2B5EF4-FFF2-40B4-BE49-F238E27FC236}">
                <a16:creationId xmlns:a16="http://schemas.microsoft.com/office/drawing/2014/main" id="{FBD0A79F-CA0B-2560-37ED-E07624B11027}"/>
              </a:ext>
            </a:extLst>
          </p:cNvPr>
          <p:cNvGrpSpPr/>
          <p:nvPr/>
        </p:nvGrpSpPr>
        <p:grpSpPr>
          <a:xfrm>
            <a:off x="16786360" y="-353712"/>
            <a:ext cx="10994424" cy="10994424"/>
            <a:chOff x="0" y="0"/>
            <a:chExt cx="812800" cy="812800"/>
          </a:xfrm>
        </p:grpSpPr>
        <p:sp>
          <p:nvSpPr>
            <p:cNvPr id="45" name="Freeform 45">
              <a:extLst>
                <a:ext uri="{FF2B5EF4-FFF2-40B4-BE49-F238E27FC236}">
                  <a16:creationId xmlns:a16="http://schemas.microsoft.com/office/drawing/2014/main" id="{25583CD3-FA12-1B53-043B-9FE4E18BA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a:extLst>
                <a:ext uri="{FF2B5EF4-FFF2-40B4-BE49-F238E27FC236}">
                  <a16:creationId xmlns:a16="http://schemas.microsoft.com/office/drawing/2014/main" id="{FA405478-0BA8-4A85-A81A-B9346174FE6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id="{BC926643-39EA-932E-6755-230476B3078D}"/>
              </a:ext>
            </a:extLst>
          </p:cNvPr>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BED729F5-CB97-61D9-1863-7B5514312DB2}"/>
              </a:ext>
            </a:extLst>
          </p:cNvPr>
          <p:cNvSpPr txBox="1"/>
          <p:nvPr/>
        </p:nvSpPr>
        <p:spPr>
          <a:xfrm>
            <a:off x="1996046" y="1765695"/>
            <a:ext cx="9967354" cy="4832092"/>
          </a:xfrm>
          <a:prstGeom prst="rect">
            <a:avLst/>
          </a:prstGeom>
          <a:noFill/>
        </p:spPr>
        <p:txBody>
          <a:bodyPr wrap="square">
            <a:spAutoFit/>
          </a:bodyPr>
          <a:lstStyle/>
          <a:p>
            <a:pPr>
              <a:buNone/>
            </a:pPr>
            <a:r>
              <a:rPr lang="en-US" sz="2800" b="1" dirty="0"/>
              <a:t>ADVANTAGES</a:t>
            </a:r>
          </a:p>
          <a:p>
            <a:pPr>
              <a:buFont typeface="Arial" panose="020B0604020202020204" pitchFamily="34" charset="0"/>
              <a:buChar char="•"/>
            </a:pPr>
            <a:r>
              <a:rPr lang="en-US" sz="2400" dirty="0"/>
              <a:t> Fast and accurate evaluation</a:t>
            </a:r>
          </a:p>
          <a:p>
            <a:pPr>
              <a:buFont typeface="Arial" panose="020B0604020202020204" pitchFamily="34" charset="0"/>
              <a:buChar char="•"/>
            </a:pPr>
            <a:r>
              <a:rPr lang="en-US" sz="2400" dirty="0"/>
              <a:t> Reduces paperwork</a:t>
            </a:r>
          </a:p>
          <a:p>
            <a:pPr>
              <a:buFont typeface="Arial" panose="020B0604020202020204" pitchFamily="34" charset="0"/>
              <a:buChar char="•"/>
            </a:pPr>
            <a:r>
              <a:rPr lang="en-US" sz="2400" dirty="0"/>
              <a:t> Secure and reliable</a:t>
            </a:r>
          </a:p>
          <a:p>
            <a:pPr>
              <a:buFont typeface="Arial" panose="020B0604020202020204" pitchFamily="34" charset="0"/>
              <a:buChar char="•"/>
            </a:pPr>
            <a:r>
              <a:rPr lang="en-US" sz="2400" dirty="0"/>
              <a:t> Accessible from anywhere</a:t>
            </a:r>
          </a:p>
          <a:p>
            <a:pPr>
              <a:buFont typeface="Arial" panose="020B0604020202020204" pitchFamily="34" charset="0"/>
              <a:buChar char="•"/>
            </a:pPr>
            <a:r>
              <a:rPr lang="en-US" sz="2400" dirty="0"/>
              <a:t> Instant feedback</a:t>
            </a:r>
          </a:p>
          <a:p>
            <a:pPr>
              <a:buNone/>
            </a:pPr>
            <a:br>
              <a:rPr lang="en-US" dirty="0"/>
            </a:br>
            <a:endParaRPr lang="en-US" dirty="0"/>
          </a:p>
          <a:p>
            <a:pPr>
              <a:buNone/>
            </a:pPr>
            <a:r>
              <a:rPr lang="en-US" sz="2800" b="1" dirty="0"/>
              <a:t>LIMITATIONS</a:t>
            </a:r>
          </a:p>
          <a:p>
            <a:pPr>
              <a:buFont typeface="Arial" panose="020B0604020202020204" pitchFamily="34" charset="0"/>
              <a:buChar char="•"/>
            </a:pPr>
            <a:r>
              <a:rPr lang="en-US" sz="2400" dirty="0"/>
              <a:t> Requires stable internet connection</a:t>
            </a:r>
          </a:p>
          <a:p>
            <a:pPr>
              <a:buFont typeface="Arial" panose="020B0604020202020204" pitchFamily="34" charset="0"/>
              <a:buChar char="•"/>
            </a:pPr>
            <a:r>
              <a:rPr lang="en-US" sz="2400" dirty="0"/>
              <a:t> Risk of cyber security threats</a:t>
            </a:r>
          </a:p>
          <a:p>
            <a:pPr>
              <a:buFont typeface="Arial" panose="020B0604020202020204" pitchFamily="34" charset="0"/>
              <a:buChar char="•"/>
            </a:pPr>
            <a:r>
              <a:rPr lang="en-US" sz="2400" dirty="0"/>
              <a:t> Limited to objective-type questions (if subjective evaluation not implemented)</a:t>
            </a:r>
          </a:p>
        </p:txBody>
      </p:sp>
    </p:spTree>
    <p:extLst>
      <p:ext uri="{BB962C8B-B14F-4D97-AF65-F5344CB8AC3E}">
        <p14:creationId xmlns:p14="http://schemas.microsoft.com/office/powerpoint/2010/main" val="18389767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454</TotalTime>
  <Words>963</Words>
  <Application>Microsoft Office PowerPoint</Application>
  <PresentationFormat>Custom</PresentationFormat>
  <Paragraphs>325</Paragraphs>
  <Slides>15</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Gotham</vt:lpstr>
      <vt:lpstr>Bookman Old Style</vt:lpstr>
      <vt:lpstr>Arial</vt:lpstr>
      <vt:lpstr>Calibri</vt:lpstr>
      <vt:lpstr>Gotham Bold Italics</vt:lpstr>
      <vt:lpstr>Times New Roman</vt:lpstr>
      <vt:lpstr>Cambria</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SESHU KUMAR</dc:creator>
  <cp:lastModifiedBy>Sheshu kumar</cp:lastModifiedBy>
  <cp:revision>14</cp:revision>
  <dcterms:created xsi:type="dcterms:W3CDTF">2006-08-16T00:00:00Z</dcterms:created>
  <dcterms:modified xsi:type="dcterms:W3CDTF">2026-03-23T02:55:02Z</dcterms:modified>
  <dc:identifier>DAHCaYqJ9OU</dc:identifier>
</cp:coreProperties>
</file>